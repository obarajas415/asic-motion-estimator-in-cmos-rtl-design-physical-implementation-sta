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e0640234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e0640234f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e0640234f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e0640234f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e0640234f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e0640234f_2_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02de7110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02de7110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this step, the design and testbench are compiled using </a:t>
            </a:r>
            <a:r>
              <a:rPr b="1" lang="en">
                <a:solidFill>
                  <a:schemeClr val="dk1"/>
                </a:solidFill>
              </a:rPr>
              <a:t>Synopsys VCS</a:t>
            </a:r>
            <a:r>
              <a:rPr lang="en">
                <a:solidFill>
                  <a:schemeClr val="dk1"/>
                </a:solidFill>
              </a:rPr>
              <a:t>.  During compilation, VCS checks the design for </a:t>
            </a:r>
            <a:r>
              <a:rPr b="1" lang="en">
                <a:solidFill>
                  <a:schemeClr val="dk1"/>
                </a:solidFill>
              </a:rPr>
              <a:t>syntax errors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module connectivity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signal mismatches. </a:t>
            </a:r>
            <a:r>
              <a:rPr lang="en">
                <a:solidFill>
                  <a:schemeClr val="dk1"/>
                </a:solidFill>
              </a:rPr>
              <a:t>If the design does not compile successfully, the simulation cannot proceed, so this step ensures that the RTL is </a:t>
            </a:r>
            <a:r>
              <a:rPr b="1" lang="en">
                <a:solidFill>
                  <a:schemeClr val="dk1"/>
                </a:solidFill>
              </a:rPr>
              <a:t>structurally correct and ready to execute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7170d797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7170d79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testbench begins by loading two input files using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$readmemh</a:t>
            </a:r>
            <a:r>
              <a:rPr lang="en">
                <a:solidFill>
                  <a:schemeClr val="dk1"/>
                </a:solidFill>
              </a:rPr>
              <a:t> command.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first file,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ref.txt</a:t>
            </a:r>
            <a:r>
              <a:rPr lang="en">
                <a:solidFill>
                  <a:schemeClr val="dk1"/>
                </a:solidFill>
              </a:rPr>
              <a:t>, is loaded into the reference memory and represents a </a:t>
            </a:r>
            <a:r>
              <a:rPr b="1" lang="en">
                <a:solidFill>
                  <a:schemeClr val="dk1"/>
                </a:solidFill>
              </a:rPr>
              <a:t>16 by 16 reference image block</a:t>
            </a:r>
            <a:r>
              <a:rPr lang="en">
                <a:solidFill>
                  <a:schemeClr val="dk1"/>
                </a:solidFill>
              </a:rPr>
              <a:t>. This block contains the pixel pattern that the design is trying to locate.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second file,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search.txt</a:t>
            </a:r>
            <a:r>
              <a:rPr lang="en">
                <a:solidFill>
                  <a:schemeClr val="dk1"/>
                </a:solidFill>
              </a:rPr>
              <a:t>, is loaded into the search memory and represents a </a:t>
            </a:r>
            <a:r>
              <a:rPr b="1" lang="en">
                <a:solidFill>
                  <a:schemeClr val="dk1"/>
                </a:solidFill>
              </a:rPr>
              <a:t>32 by 32 search window</a:t>
            </a:r>
            <a:r>
              <a:rPr lang="en">
                <a:solidFill>
                  <a:schemeClr val="dk1"/>
                </a:solidFill>
              </a:rPr>
              <a:t>. This larger window defines the region where the reference block is searched for possible matches.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02a777f6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02a777f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image shows the waveform during the </a:t>
            </a:r>
            <a:r>
              <a:rPr b="1" lang="en">
                <a:solidFill>
                  <a:schemeClr val="dk1"/>
                </a:solidFill>
              </a:rPr>
              <a:t>first few clock cycles</a:t>
            </a:r>
            <a:r>
              <a:rPr lang="en">
                <a:solidFill>
                  <a:schemeClr val="dk1"/>
                </a:solidFill>
              </a:rPr>
              <a:t> of the motion estimation process.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At this early stage, we can see that the </a:t>
            </a:r>
            <a:r>
              <a:rPr b="1" lang="en">
                <a:solidFill>
                  <a:schemeClr val="dk1"/>
                </a:solidFill>
              </a:rPr>
              <a:t>BestDist signal is equal to </a:t>
            </a:r>
            <a:r>
              <a:rPr b="1"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8'hFF</a:t>
            </a:r>
            <a:r>
              <a:rPr b="1" lang="en">
                <a:solidFill>
                  <a:schemeClr val="dk1"/>
                </a:solidFill>
              </a:rPr>
              <a:t>, or 255</a:t>
            </a:r>
            <a:r>
              <a:rPr lang="en">
                <a:solidFill>
                  <a:schemeClr val="dk1"/>
                </a:solidFill>
              </a:rPr>
              <a:t>, which corresponds to the out put message </a:t>
            </a:r>
            <a:r>
              <a:rPr i="1" lang="en">
                <a:solidFill>
                  <a:schemeClr val="dk1"/>
                </a:solidFill>
              </a:rPr>
              <a:t>“Not Found the frame in the Search Window.”</a:t>
            </a:r>
            <a:endParaRPr i="1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waveform represents the </a:t>
            </a:r>
            <a:r>
              <a:rPr b="1" lang="en">
                <a:solidFill>
                  <a:schemeClr val="dk1"/>
                </a:solidFill>
              </a:rPr>
              <a:t>worst-case scenario</a:t>
            </a:r>
            <a:r>
              <a:rPr lang="en">
                <a:solidFill>
                  <a:schemeClr val="dk1"/>
                </a:solidFill>
              </a:rPr>
              <a:t> during functional verification of the motion estimator.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02a777f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02a777f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better-case waveform, BestDist equals 2 which is non zero </a:t>
            </a:r>
            <a:r>
              <a:rPr lang="en"/>
              <a:t>number but not zero</a:t>
            </a:r>
            <a:r>
              <a:rPr lang="en"/>
              <a:t> , indicating a partial match that is close to the reference image, which correctly triggers the “Almost Found the frame in the Search Window” message.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02a777f6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02a777f6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waveform represents the </a:t>
            </a:r>
            <a:r>
              <a:rPr b="1" lang="en">
                <a:solidFill>
                  <a:schemeClr val="dk1"/>
                </a:solidFill>
              </a:rPr>
              <a:t>best-case scenario</a:t>
            </a:r>
            <a:r>
              <a:rPr lang="en">
                <a:solidFill>
                  <a:schemeClr val="dk1"/>
                </a:solidFill>
              </a:rPr>
              <a:t> in the functional verification of the motion estimator. In this case, the </a:t>
            </a:r>
            <a:r>
              <a:rPr b="1" lang="en">
                <a:solidFill>
                  <a:schemeClr val="dk1"/>
                </a:solidFill>
              </a:rPr>
              <a:t>BestDist signal equals zero</a:t>
            </a:r>
            <a:r>
              <a:rPr lang="en">
                <a:solidFill>
                  <a:schemeClr val="dk1"/>
                </a:solidFill>
              </a:rPr>
              <a:t>, meaning the value of </a:t>
            </a:r>
            <a:r>
              <a:rPr b="1" lang="en">
                <a:solidFill>
                  <a:schemeClr val="dk1"/>
                </a:solidFill>
              </a:rPr>
              <a:t>BestDist is exactly 0 </a:t>
            </a:r>
            <a:r>
              <a:rPr lang="en">
                <a:solidFill>
                  <a:schemeClr val="dk1"/>
                </a:solidFill>
              </a:rPr>
              <a:t>A BestDist value of zero indicates a </a:t>
            </a:r>
            <a:r>
              <a:rPr b="1" lang="en">
                <a:solidFill>
                  <a:schemeClr val="dk1"/>
                </a:solidFill>
              </a:rPr>
              <a:t>perfect match</a:t>
            </a:r>
            <a:r>
              <a:rPr lang="en">
                <a:solidFill>
                  <a:schemeClr val="dk1"/>
                </a:solidFill>
              </a:rPr>
              <a:t> between the 16×16 reference block and a selected 16×16 block within the search window.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e0640234f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For synthesis,</a:t>
            </a:r>
            <a:r>
              <a:rPr lang="en">
                <a:solidFill>
                  <a:schemeClr val="dk1"/>
                </a:solidFill>
              </a:rPr>
              <a:t> we use Synopsys Design Compiler within the </a:t>
            </a:r>
            <a:r>
              <a:rPr i="1" lang="en">
                <a:solidFill>
                  <a:schemeClr val="dk1"/>
                </a:solidFill>
              </a:rPr>
              <a:t>dc_shell-xg-t</a:t>
            </a:r>
            <a:r>
              <a:rPr lang="en">
                <a:solidFill>
                  <a:schemeClr val="dk1"/>
                </a:solidFill>
              </a:rPr>
              <a:t> environment, which provides access to the technology libraries containing all standard cells and gates.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then import our RTL using </a:t>
            </a:r>
            <a:r>
              <a:rPr i="1" lang="en">
                <a:solidFill>
                  <a:schemeClr val="dk1"/>
                </a:solidFill>
              </a:rPr>
              <a:t>analyze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i="1" lang="en">
                <a:solidFill>
                  <a:schemeClr val="dk1"/>
                </a:solidFill>
              </a:rPr>
              <a:t>elaborate</a:t>
            </a:r>
            <a:r>
              <a:rPr lang="en">
                <a:solidFill>
                  <a:schemeClr val="dk1"/>
                </a:solidFill>
              </a:rPr>
              <a:t> to build the structural representation of the design.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After applying a clock constraint with </a:t>
            </a:r>
            <a:r>
              <a:rPr i="1" lang="en">
                <a:solidFill>
                  <a:schemeClr val="dk1"/>
                </a:solidFill>
              </a:rPr>
              <a:t>create_clock</a:t>
            </a:r>
            <a:r>
              <a:rPr lang="en">
                <a:solidFill>
                  <a:schemeClr val="dk1"/>
                </a:solidFill>
              </a:rPr>
              <a:t>, we evaluate the timing slack.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Through this analysis, we determined that a 3.8-nanosecond clock period was appropriate for our design.</a:t>
            </a:r>
            <a:endParaRPr/>
          </a:p>
        </p:txBody>
      </p:sp>
      <p:sp>
        <p:nvSpPr>
          <p:cNvPr id="184" name="Google Shape;184;g3ae0640234f_2_1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e0640234f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synthesis timing report shows positive setup and hold slack, indicating the design meets timing with no violations at this stage.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e0640234f_2_1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0640234f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Because our synthesis timing was clean, Design Compiler generated the corresponding SDC file, including the finalized 3.8-ns clock constraint.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i="1" lang="en">
                <a:solidFill>
                  <a:schemeClr val="dk1"/>
                </a:solidFill>
              </a:rPr>
              <a:t>ddc</a:t>
            </a:r>
            <a:r>
              <a:rPr lang="en">
                <a:solidFill>
                  <a:schemeClr val="dk1"/>
                </a:solidFill>
              </a:rPr>
              <a:t> file is the saved design database—the “golden” representation of the synthesized circuit—while the </a:t>
            </a:r>
            <a:r>
              <a:rPr i="1" lang="en">
                <a:solidFill>
                  <a:schemeClr val="dk1"/>
                </a:solidFill>
              </a:rPr>
              <a:t>sdc</a:t>
            </a:r>
            <a:r>
              <a:rPr lang="en">
                <a:solidFill>
                  <a:schemeClr val="dk1"/>
                </a:solidFill>
              </a:rPr>
              <a:t> captures the timing constraints.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 this validated database, we produce the synthesized netlist.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After compile optimization, this netlist becomes the foundation for the physical design stage.</a:t>
            </a:r>
            <a:endParaRPr/>
          </a:p>
        </p:txBody>
      </p:sp>
      <p:sp>
        <p:nvSpPr>
          <p:cNvPr id="200" name="Google Shape;200;g3ae0640234f_2_1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e0640234f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This slide shows our post-synthesis static timing analysis (STA).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Before entering physical design, we run PrimeTime to evaluate the timing quality of the netlist.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We check both setup and hold times to identify early timing violations.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The reports here summarizes the worst path’s slack values, giving us a baseline before placement and routing.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Starting the Flow: Pre-layout STA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Before entering the physical design stage, the first thing we do is run </a:t>
            </a:r>
            <a:r>
              <a:rPr b="1" lang="en">
                <a:solidFill>
                  <a:schemeClr val="dk1"/>
                </a:solidFill>
              </a:rPr>
              <a:t>static timing analysis</a:t>
            </a:r>
            <a:r>
              <a:rPr lang="en">
                <a:solidFill>
                  <a:schemeClr val="dk1"/>
                </a:solidFill>
              </a:rPr>
              <a:t>, or STA.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We use </a:t>
            </a:r>
            <a:r>
              <a:rPr b="1" lang="en">
                <a:solidFill>
                  <a:schemeClr val="dk1"/>
                </a:solidFill>
              </a:rPr>
              <a:t>PrimeTime</a:t>
            </a:r>
            <a:r>
              <a:rPr lang="en">
                <a:solidFill>
                  <a:schemeClr val="dk1"/>
                </a:solidFill>
              </a:rPr>
              <a:t>, which is a timing verification tool that evaluates whether our design meets setup and hold requirements based on the synthesized netlist and constraints.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this stage, the design has </a:t>
            </a:r>
            <a:r>
              <a:rPr b="1" lang="en">
                <a:solidFill>
                  <a:schemeClr val="dk1"/>
                </a:solidFill>
              </a:rPr>
              <a:t>no physical information yet</a:t>
            </a:r>
            <a:r>
              <a:rPr lang="en">
                <a:solidFill>
                  <a:schemeClr val="dk1"/>
                </a:solidFill>
              </a:rPr>
              <a:t>—no placement, no routing, no parasitics.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So this pre-layout STA gives us an initial understanding of the timing quality of our netlist.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generate two main timing reports: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setup timing report</a:t>
            </a:r>
            <a:r>
              <a:rPr lang="en">
                <a:solidFill>
                  <a:schemeClr val="dk1"/>
                </a:solidFill>
              </a:rPr>
              <a:t>, which checks whether signals can arrive in time.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hold timing report</a:t>
            </a:r>
            <a:r>
              <a:rPr lang="en">
                <a:solidFill>
                  <a:schemeClr val="dk1"/>
                </a:solidFill>
              </a:rPr>
              <a:t>, which ensures signals do not arrive too early.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reports help us confirm that the design is ready to move into physical implementation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e0640234f_2_1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e0640234f_2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Physical design follows several key stages: floorplanning, placement, clock tree synthesis, and routing.</a:t>
            </a:r>
            <a:br>
              <a:rPr b="1" lang="en" sz="1600">
                <a:solidFill>
                  <a:schemeClr val="dk1"/>
                </a:solidFill>
              </a:rPr>
            </a:br>
            <a:r>
              <a:rPr b="1" lang="en" sz="1600">
                <a:solidFill>
                  <a:schemeClr val="dk1"/>
                </a:solidFill>
              </a:rPr>
              <a:t>The SDC shown here provides the timing constraints used throughout these steps.</a:t>
            </a:r>
            <a:br>
              <a:rPr b="1" lang="en" sz="1600">
                <a:solidFill>
                  <a:schemeClr val="dk1"/>
                </a:solidFill>
              </a:rPr>
            </a:br>
            <a:r>
              <a:rPr b="1" lang="en" sz="1600">
                <a:solidFill>
                  <a:schemeClr val="dk1"/>
                </a:solidFill>
              </a:rPr>
              <a:t>It links back to the 3.8-nanosecond clock period defined in our earlier timing design, ensuring that the entire physical implementation is built on consistent timing assumptions.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Physical Design Stage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Once we finish pre-layout STA, we begin the actual </a:t>
            </a:r>
            <a:r>
              <a:rPr b="1" lang="en">
                <a:solidFill>
                  <a:schemeClr val="dk1"/>
                </a:solidFill>
              </a:rPr>
              <a:t>physical design</a:t>
            </a:r>
            <a:r>
              <a:rPr lang="en">
                <a:solidFill>
                  <a:schemeClr val="dk1"/>
                </a:solidFill>
              </a:rPr>
              <a:t>, using ICC2.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stage is where the netlist is transformed into a real physical chip layout.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can divide the physical design process into several major steps: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(1) Floorplanning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define the overall structure of the chip—its area, core boundary, and the locations of IO ports and power structures.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(2) Placement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Next, all the standard cells are placed onto the chip.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After placement, we run timing checks again, which give us updated setup and hold reports based on cell positions.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(3) Clock Tree Synthesis (CTS)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then build the clock tree to ensure the clock signal arrives uniformly across the design.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After CTS, we evaluate the clock quality and check timing again.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(4) Routing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Finally, we route all the wires that connect the cells.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includes global routing, detailed routing, and routing optimization.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After routing, we generate a complete set of reports—area, power, QoR, utilization, and updated timing reports.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By the end of this stage, the design is fully placed and routed, but not yet analyzed with real parasitics.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e0640234f_2_2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e0640234f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we show the physical design power and area reports.</a:t>
            </a:r>
            <a:br>
              <a:rPr lang="en"/>
            </a:br>
            <a:r>
              <a:rPr lang="en"/>
              <a:t> Compared with the synthesis results, the metrics changed because placement, routing, and real parasitics were introduced.</a:t>
            </a:r>
            <a:br>
              <a:rPr lang="en"/>
            </a:br>
            <a:r>
              <a:rPr lang="en"/>
              <a:t> These reports provide a more accurate view of the chip’s final power consumption and physical area.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e0640234f_2_2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e0640234f_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view shows the ICC2 layout board, displaying the placed cells and routed interconnects that form the final physical chip structure.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ae0640234f_2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e0640234f_2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Here we show the physical design outputs.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After routing, we extract detailed RC parasitics for both max and min corners, capturing real wire resistance and capacitance.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After extracting these parasitics, ICC2 generates a post-layout netlist and updated SDC.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This netlist reflects the actual routed design and is used for final timing analysis in PrimeTime.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3. Parasitic Extraction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Once routing is complete, we extract the actual parasitic effects from the layout.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These parasitics—such as real wire capacitance and resistance—have a direct impact on timing.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generate an extracted version of the design, including: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post-layout netlist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post-layout SDC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SPEF file</a:t>
            </a:r>
            <a:r>
              <a:rPr lang="en">
                <a:solidFill>
                  <a:schemeClr val="dk1"/>
                </a:solidFill>
              </a:rPr>
              <a:t> containing parasitic information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extracted data allows us to run a much more accurate timing analysis.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ae0640234f_2_2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e0640234f_2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Using the extracted parasitics from the SPEF files together with the post-layout netlist, we perform final setup and hold analysis in PrimeTime.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This post-layout STA reflects actual routed delays, including wire resistance and capacitance.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The reports shown here represent our sign-off results, confirming timing closure for both the MAX corner (setup) and the MIN corner (hold).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4. Post-layout STA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After combining the layout parasitics with the netlist and constraints, we perform </a:t>
            </a:r>
            <a:r>
              <a:rPr b="1" lang="en">
                <a:solidFill>
                  <a:schemeClr val="dk1"/>
                </a:solidFill>
              </a:rPr>
              <a:t>post-layout timing signoff</a:t>
            </a:r>
            <a:r>
              <a:rPr lang="en">
                <a:solidFill>
                  <a:schemeClr val="dk1"/>
                </a:solidFill>
              </a:rPr>
              <a:t> in PrimeTime.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we analyze two corners: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(1) The MAX delay corner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Used for checking </a:t>
            </a:r>
            <a:r>
              <a:rPr b="1" lang="en">
                <a:solidFill>
                  <a:schemeClr val="dk1"/>
                </a:solidFill>
              </a:rPr>
              <a:t>setup timing</a:t>
            </a:r>
            <a:r>
              <a:rPr lang="en">
                <a:solidFill>
                  <a:schemeClr val="dk1"/>
                </a:solidFill>
              </a:rPr>
              <a:t>, ensuring signals can travel fast enough across long wires with parasitic loading.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(2) The MIN delay corner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Used for </a:t>
            </a:r>
            <a:r>
              <a:rPr b="1" lang="en">
                <a:solidFill>
                  <a:schemeClr val="dk1"/>
                </a:solidFill>
              </a:rPr>
              <a:t>hold timing</a:t>
            </a:r>
            <a:r>
              <a:rPr lang="en">
                <a:solidFill>
                  <a:schemeClr val="dk1"/>
                </a:solidFill>
              </a:rPr>
              <a:t>, ensuring signals do not arrive too early due to short paths.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the end of this stage, we produce two final signoff reports: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post-layout setup timing report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post-layout hold timing report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reports represent the true timing behavior of the chip and determine whether the design is ready for tape-out.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Conclusion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summarize: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We start with </a:t>
            </a:r>
            <a:r>
              <a:rPr b="1" lang="en">
                <a:solidFill>
                  <a:schemeClr val="dk1"/>
                </a:solidFill>
              </a:rPr>
              <a:t>pre-layout STA</a:t>
            </a:r>
            <a:r>
              <a:rPr lang="en">
                <a:solidFill>
                  <a:schemeClr val="dk1"/>
                </a:solidFill>
              </a:rPr>
              <a:t> to verify the netlist.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Then we go through the </a:t>
            </a:r>
            <a:r>
              <a:rPr b="1" lang="en">
                <a:solidFill>
                  <a:schemeClr val="dk1"/>
                </a:solidFill>
              </a:rPr>
              <a:t>physical design process</a:t>
            </a:r>
            <a:r>
              <a:rPr lang="en">
                <a:solidFill>
                  <a:schemeClr val="dk1"/>
                </a:solidFill>
              </a:rPr>
              <a:t>—floorplan, placement, CTS, and routing—evaluating timing along the way.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After routing, we extract </a:t>
            </a:r>
            <a:r>
              <a:rPr b="1" lang="en">
                <a:solidFill>
                  <a:schemeClr val="dk1"/>
                </a:solidFill>
              </a:rPr>
              <a:t>real parasitics</a:t>
            </a:r>
            <a:r>
              <a:rPr lang="en">
                <a:solidFill>
                  <a:schemeClr val="dk1"/>
                </a:solidFill>
              </a:rPr>
              <a:t> from the layout.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Finally, we run </a:t>
            </a:r>
            <a:r>
              <a:rPr b="1" lang="en">
                <a:solidFill>
                  <a:schemeClr val="dk1"/>
                </a:solidFill>
              </a:rPr>
              <a:t>post-layout STA</a:t>
            </a:r>
            <a:r>
              <a:rPr lang="en">
                <a:solidFill>
                  <a:schemeClr val="dk1"/>
                </a:solidFill>
              </a:rPr>
              <a:t>, which incorporates those parasitics and generates our final timing signoff.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complete flow ensures that the design meets timing requirements under realistic conditions before it can move to manufacturing.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ae0640234f_2_2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 New Roman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Advanced Digital Design Motion Estimator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By The Charismatic Chuan Li, The Dignified Dahlen Lakin, and The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Ostentatious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Oscar Barajas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Design Specifications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16x16 Reference Block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31x31 Search Window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Grey-scale coded pixels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Clocks available : 260 MHz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32x28 nm CMOS library</a:t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986" y="1268017"/>
            <a:ext cx="3072578" cy="26293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6"/>
          <p:cNvCxnSpPr/>
          <p:nvPr/>
        </p:nvCxnSpPr>
        <p:spPr>
          <a:xfrm rot="10800000">
            <a:off x="5307497" y="1341927"/>
            <a:ext cx="700707" cy="587549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53175" y="-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Top Module</a:t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6975" y="698175"/>
            <a:ext cx="4640932" cy="179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7550" y="2460128"/>
            <a:ext cx="4509950" cy="25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       VCS </a:t>
            </a:r>
            <a:r>
              <a:rPr b="1" lang="en"/>
              <a:t>Verification</a:t>
            </a:r>
            <a:r>
              <a:rPr b="1" lang="en"/>
              <a:t> &amp; </a:t>
            </a:r>
            <a:r>
              <a:rPr b="1" lang="en"/>
              <a:t>Simulation </a:t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5032800" y="1369225"/>
            <a:ext cx="3482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There </a:t>
            </a:r>
            <a:r>
              <a:rPr lang="en"/>
              <a:t>are three main steps in debugging the design, which are as follows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Compiling the Verilog/VHDL source code.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Running the Simulation.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Viewing and debugging the generated waveforms.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5" y="1468250"/>
            <a:ext cx="4766074" cy="22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628650" y="-6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input being Tested?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5002650" y="960776"/>
            <a:ext cx="3512700" cy="3961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9"/>
          <p:cNvPicPr preferRelativeResize="0"/>
          <p:nvPr/>
        </p:nvPicPr>
        <p:blipFill rotWithShape="1">
          <a:blip r:embed="rId3">
            <a:alphaModFix/>
          </a:blip>
          <a:srcRect b="0" l="7114" r="0" t="0"/>
          <a:stretch/>
        </p:blipFill>
        <p:spPr>
          <a:xfrm>
            <a:off x="4681400" y="1537661"/>
            <a:ext cx="4366176" cy="26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9"/>
          <p:cNvPicPr preferRelativeResize="0"/>
          <p:nvPr/>
        </p:nvPicPr>
        <p:blipFill rotWithShape="1">
          <a:blip r:embed="rId4">
            <a:alphaModFix/>
          </a:blip>
          <a:srcRect b="0" l="0" r="0" t="5383"/>
          <a:stretch/>
        </p:blipFill>
        <p:spPr>
          <a:xfrm>
            <a:off x="156125" y="1434425"/>
            <a:ext cx="4366175" cy="28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Motion Estimator Functional Verification – Waveform Worst-Case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75" y="1184575"/>
            <a:ext cx="7782052" cy="320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Motion Estimator Functional Verification – Waveform Better-Case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400" y="1268050"/>
            <a:ext cx="6864148" cy="369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en"/>
              <a:t>Motion Estimator Functional Verification – Waveform Best-Case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806" y="1321750"/>
            <a:ext cx="8156380" cy="326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628650" y="2431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Synthesis Constraints</a:t>
            </a: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900" y="1578851"/>
            <a:ext cx="8397960" cy="225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/>
          <p:nvPr/>
        </p:nvSpPr>
        <p:spPr>
          <a:xfrm>
            <a:off x="5613006" y="3634301"/>
            <a:ext cx="484200" cy="200400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Synthesis Power and Area</a:t>
            </a:r>
            <a:endParaRPr/>
          </a:p>
        </p:txBody>
      </p:sp>
      <p:sp>
        <p:nvSpPr>
          <p:cNvPr id="194" name="Google Shape;194;p34"/>
          <p:cNvSpPr txBox="1"/>
          <p:nvPr/>
        </p:nvSpPr>
        <p:spPr>
          <a:xfrm>
            <a:off x="1357216" y="1068775"/>
            <a:ext cx="2274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Report</a:t>
            </a:r>
            <a:endParaRPr sz="1100"/>
          </a:p>
        </p:txBody>
      </p:sp>
      <p:sp>
        <p:nvSpPr>
          <p:cNvPr id="195" name="Google Shape;195;p34"/>
          <p:cNvSpPr txBox="1"/>
          <p:nvPr/>
        </p:nvSpPr>
        <p:spPr>
          <a:xfrm>
            <a:off x="5689496" y="1120825"/>
            <a:ext cx="1858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Report</a:t>
            </a:r>
            <a:endParaRPr sz="1100"/>
          </a:p>
        </p:txBody>
      </p:sp>
      <p:pic>
        <p:nvPicPr>
          <p:cNvPr id="196" name="Google Shape;1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50" y="1405525"/>
            <a:ext cx="2864300" cy="35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9150" y="1651000"/>
            <a:ext cx="5554850" cy="2644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Synthesis Netlist and Timing Constraints</a:t>
            </a:r>
            <a:endParaRPr/>
          </a:p>
        </p:txBody>
      </p:sp>
      <p:sp>
        <p:nvSpPr>
          <p:cNvPr id="203" name="Google Shape;203;p35"/>
          <p:cNvSpPr txBox="1"/>
          <p:nvPr/>
        </p:nvSpPr>
        <p:spPr>
          <a:xfrm>
            <a:off x="1804715" y="1558775"/>
            <a:ext cx="1118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Netlist</a:t>
            </a:r>
            <a:endParaRPr sz="1100"/>
          </a:p>
        </p:txBody>
      </p:sp>
      <p:sp>
        <p:nvSpPr>
          <p:cNvPr id="204" name="Google Shape;204;p35"/>
          <p:cNvSpPr txBox="1"/>
          <p:nvPr/>
        </p:nvSpPr>
        <p:spPr>
          <a:xfrm>
            <a:off x="5450494" y="1558775"/>
            <a:ext cx="246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Timing Constraints</a:t>
            </a:r>
            <a:endParaRPr sz="1100"/>
          </a:p>
        </p:txBody>
      </p:sp>
      <p:pic>
        <p:nvPicPr>
          <p:cNvPr id="205" name="Google Shape;20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853" y="1923410"/>
            <a:ext cx="3635972" cy="2873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9850" y="2275275"/>
            <a:ext cx="5164151" cy="170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628650" y="-7525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Post-Synthesis Static Timing Analysis</a:t>
            </a:r>
            <a:endParaRPr/>
          </a:p>
        </p:txBody>
      </p:sp>
      <p:sp>
        <p:nvSpPr>
          <p:cNvPr id="212" name="Google Shape;212;p36"/>
          <p:cNvSpPr txBox="1"/>
          <p:nvPr/>
        </p:nvSpPr>
        <p:spPr>
          <a:xfrm>
            <a:off x="419474" y="1329374"/>
            <a:ext cx="843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Set-Up</a:t>
            </a:r>
            <a:endParaRPr sz="1100"/>
          </a:p>
        </p:txBody>
      </p:sp>
      <p:sp>
        <p:nvSpPr>
          <p:cNvPr id="213" name="Google Shape;213;p36"/>
          <p:cNvSpPr txBox="1"/>
          <p:nvPr/>
        </p:nvSpPr>
        <p:spPr>
          <a:xfrm>
            <a:off x="4661125" y="1268027"/>
            <a:ext cx="843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Hold</a:t>
            </a:r>
            <a:endParaRPr sz="1100"/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2700" y="1164979"/>
            <a:ext cx="3100857" cy="3570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2475" y="757151"/>
            <a:ext cx="2867256" cy="438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735225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Physical Design Constraints</a:t>
            </a:r>
            <a:endParaRPr/>
          </a:p>
        </p:txBody>
      </p:sp>
      <p:pic>
        <p:nvPicPr>
          <p:cNvPr id="221" name="Google Shape;22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925" y="1268050"/>
            <a:ext cx="5515476" cy="372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628650" y="-14508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Physical Design Power and Area</a:t>
            </a:r>
            <a:endParaRPr/>
          </a:p>
        </p:txBody>
      </p:sp>
      <p:sp>
        <p:nvSpPr>
          <p:cNvPr id="227" name="Google Shape;227;p38"/>
          <p:cNvSpPr txBox="1"/>
          <p:nvPr/>
        </p:nvSpPr>
        <p:spPr>
          <a:xfrm>
            <a:off x="628650" y="3461252"/>
            <a:ext cx="9832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Report</a:t>
            </a:r>
            <a:endParaRPr sz="1100"/>
          </a:p>
        </p:txBody>
      </p:sp>
      <p:sp>
        <p:nvSpPr>
          <p:cNvPr id="228" name="Google Shape;228;p38"/>
          <p:cNvSpPr txBox="1"/>
          <p:nvPr/>
        </p:nvSpPr>
        <p:spPr>
          <a:xfrm>
            <a:off x="569643" y="1811914"/>
            <a:ext cx="11012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Report</a:t>
            </a:r>
            <a:endParaRPr sz="1100"/>
          </a:p>
        </p:txBody>
      </p:sp>
      <p:pic>
        <p:nvPicPr>
          <p:cNvPr id="229" name="Google Shape;22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525" y="644125"/>
            <a:ext cx="4768574" cy="210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5525" y="2855125"/>
            <a:ext cx="3774718" cy="22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Physical Design Board</a:t>
            </a:r>
            <a:endParaRPr/>
          </a:p>
        </p:txBody>
      </p:sp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725" y="1124866"/>
            <a:ext cx="6773186" cy="3570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Physical Design Output</a:t>
            </a:r>
            <a:endParaRPr/>
          </a:p>
        </p:txBody>
      </p:sp>
      <p:sp>
        <p:nvSpPr>
          <p:cNvPr id="242" name="Google Shape;242;p40"/>
          <p:cNvSpPr txBox="1"/>
          <p:nvPr/>
        </p:nvSpPr>
        <p:spPr>
          <a:xfrm>
            <a:off x="2011621" y="1123500"/>
            <a:ext cx="1501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RC Parasitics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0"/>
          <p:cNvSpPr txBox="1"/>
          <p:nvPr/>
        </p:nvSpPr>
        <p:spPr>
          <a:xfrm>
            <a:off x="6502950" y="1178124"/>
            <a:ext cx="195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Netlist(top_post.v)</a:t>
            </a:r>
            <a:endParaRPr sz="1100"/>
          </a:p>
        </p:txBody>
      </p:sp>
      <p:pic>
        <p:nvPicPr>
          <p:cNvPr id="244" name="Google Shape;2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4598" y="1522425"/>
            <a:ext cx="3119401" cy="332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525" y="1470200"/>
            <a:ext cx="2678945" cy="336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1250" y="1429385"/>
            <a:ext cx="2964575" cy="3450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/>
        </p:nvSpPr>
        <p:spPr>
          <a:xfrm>
            <a:off x="3436550" y="1074676"/>
            <a:ext cx="1148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Timing Report</a:t>
            </a:r>
            <a:endParaRPr sz="1100"/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37900"/>
            <a:ext cx="3891675" cy="368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41"/>
          <p:cNvPicPr preferRelativeResize="0"/>
          <p:nvPr/>
        </p:nvPicPr>
        <p:blipFill rotWithShape="1">
          <a:blip r:embed="rId4">
            <a:alphaModFix/>
          </a:blip>
          <a:srcRect b="6672" l="0" r="0" t="0"/>
          <a:stretch/>
        </p:blipFill>
        <p:spPr>
          <a:xfrm>
            <a:off x="0" y="48375"/>
            <a:ext cx="3271925" cy="497120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1"/>
          <p:cNvSpPr txBox="1"/>
          <p:nvPr>
            <p:ph type="title"/>
          </p:nvPr>
        </p:nvSpPr>
        <p:spPr>
          <a:xfrm>
            <a:off x="1966900" y="-56301"/>
            <a:ext cx="71235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2900"/>
              <a:t>Post Layout Timing Analysis &amp; Sign-Off</a:t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